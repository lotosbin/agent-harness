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501354" y="1376363"/>
            <a:ext cx="422411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666851" y="2335113"/>
            <a:ext cx="388635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400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编码助手真正为你工作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05200" y="2954238"/>
            <a:ext cx="217612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用流程弥补 AI 的不可靠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417987" y="3620988"/>
            <a:ext cx="235418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6E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118k Stars - GitHub 热榜第一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381000"/>
            <a:ext cx="922334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你是否遇到过这些困境？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01" y="121905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0851" y="1139726"/>
            <a:ext cx="29474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生成了一堆代码，但跑不起来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1501" y="16572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80851" y="1577876"/>
            <a:ext cx="21879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修 Bug，越修越多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501" y="209535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0851" y="2016026"/>
            <a:ext cx="2901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每次对话都要从头解释项目背景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1501" y="2533501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851" y="2454176"/>
            <a:ext cx="39836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写的代码自己都看不懂，更不敢交给团队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501" y="2892326"/>
            <a:ext cx="9042499" cy="622102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125313" y="2892326"/>
            <a:ext cx="0" cy="622102"/>
          </a:xfrm>
          <a:prstGeom prst="line">
            <a:avLst/>
          </a:prstGeom>
          <a:noFill/>
          <a:ln w="47625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827" y="3070027"/>
            <a:ext cx="881226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问题的根源不是 AI 不够聪明，而是缺少让 AI 稳定工作的流程。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4488"/>
            <a:ext cx="9144000" cy="0"/>
          </a:xfrm>
          <a:prstGeom prst="line">
            <a:avLst/>
          </a:prstGeom>
          <a:noFill/>
          <a:ln w="9525">
            <a:solidFill>
              <a:srgbClr val="2D4A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381000"/>
            <a:ext cx="80316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 Superpowers？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466701"/>
            <a:ext cx="7874198" cy="1366242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58713" y="1466701"/>
            <a:ext cx="0" cy="1366242"/>
          </a:xfrm>
          <a:prstGeom prst="line">
            <a:avLst/>
          </a:prstGeom>
          <a:noFill/>
          <a:ln w="47625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9976" y="1784152"/>
            <a:ext cx="7335506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 是一个 </a:t>
            </a:r>
            <a:pPr algn="l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编码 Agent 的技能框架与方法论</a:t>
            </a:r>
            <a:pPr algn="l" indent="0" marL="0">
              <a:lnSpc>
                <a:spcPts val="2880"/>
              </a:lnSpc>
              <a:buNone/>
            </a:pPr>
            <a:r>
              <a:rPr lang="en-US" sz="18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。通过组合式的"技能"（Skills）让 AI Agent 自动遵循经过验证的开发流程。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4901" y="3150394"/>
            <a:ext cx="2370683" cy="1149102"/>
          </a:xfrm>
          <a:prstGeom prst="roundRect">
            <a:avLst>
              <a:gd name="adj" fmla="val 884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88802" y="3404295"/>
            <a:ext cx="19001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测试先行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88802" y="3816995"/>
            <a:ext cx="19001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先写测试，再写代码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6584" y="3150394"/>
            <a:ext cx="2370832" cy="1149102"/>
          </a:xfrm>
          <a:prstGeom prst="roundRect">
            <a:avLst>
              <a:gd name="adj" fmla="val 884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640485" y="3404295"/>
            <a:ext cx="19002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系统化流程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40485" y="3816995"/>
            <a:ext cx="19002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步工作流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38416" y="3150394"/>
            <a:ext cx="2370683" cy="1149102"/>
          </a:xfrm>
          <a:prstGeom prst="roundRect">
            <a:avLst>
              <a:gd name="adj" fmla="val 8842"/>
            </a:avLst>
          </a:prstGeom>
          <a:solidFill>
            <a:srgbClr val="FFFFFF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92317" y="3404295"/>
            <a:ext cx="19001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证据说话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2317" y="3816995"/>
            <a:ext cx="19001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验证通过才算完成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1501" y="381000"/>
            <a:ext cx="9223349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安装（3 分钟搞定）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1501" y="1139726"/>
            <a:ext cx="92233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Code（推荐）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1501" y="1555552"/>
            <a:ext cx="9042499" cy="742950"/>
          </a:xfrm>
          <a:prstGeom prst="roundRect">
            <a:avLst>
              <a:gd name="adj" fmla="val 10256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0101" y="1707952"/>
            <a:ext cx="8757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marketplace add obra/superpowers-marketplace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0101" y="1965127"/>
            <a:ext cx="8757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13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/plugin install superpowers@superpowers-marketplace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501" y="2400002"/>
            <a:ext cx="9223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其他平台：Cursor / Codex / Gemini CLI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1501" y="2857202"/>
            <a:ext cx="92233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验证安装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1501" y="3273028"/>
            <a:ext cx="9042499" cy="533400"/>
          </a:xfrm>
          <a:prstGeom prst="roundRect">
            <a:avLst>
              <a:gd name="adj" fmla="val 14286"/>
            </a:avLst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0101" y="3425428"/>
            <a:ext cx="8757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8D3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帮我规划这个功能：用户登录系统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1501" y="3907929"/>
            <a:ext cx="92233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自动调用 brainstorming、writing-plans 技能 = 安装成功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06388"/>
            <a:ext cx="9144000" cy="0"/>
          </a:xfrm>
          <a:prstGeom prst="line">
            <a:avLst/>
          </a:prstGeom>
          <a:noFill/>
          <a:ln w="9525">
            <a:solidFill>
              <a:srgbClr val="2D4A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核心工作流：7 步从想法到代码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949" y="1917799"/>
            <a:ext cx="1600200" cy="727025"/>
          </a:xfrm>
          <a:prstGeom prst="roundRect">
            <a:avLst>
              <a:gd name="adj" fmla="val 10481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3119" y="207019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3119" y="22638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头脑风暴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87650" y="2133749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0" y="1917799"/>
            <a:ext cx="1600200" cy="727025"/>
          </a:xfrm>
          <a:prstGeom prst="roundRect">
            <a:avLst>
              <a:gd name="adj" fmla="val 10481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60370" y="207019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60370" y="22638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设计评审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44901" y="2133749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451" y="1917799"/>
            <a:ext cx="1600200" cy="727025"/>
          </a:xfrm>
          <a:prstGeom prst="roundRect">
            <a:avLst>
              <a:gd name="adj" fmla="val 10481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17621" y="207019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17621" y="22638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隔离工作区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02152" y="2133749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57702" y="1917799"/>
            <a:ext cx="1600200" cy="727025"/>
          </a:xfrm>
          <a:prstGeom prst="roundRect">
            <a:avLst>
              <a:gd name="adj" fmla="val 10481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74872" y="207019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074872" y="2263825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任务规划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14649" y="2974777"/>
            <a:ext cx="1600200" cy="727025"/>
          </a:xfrm>
          <a:prstGeom prst="roundRect">
            <a:avLst>
              <a:gd name="adj" fmla="val 10481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931819" y="3127177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31819" y="3320802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合并发布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16350" y="319072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771900" y="2974777"/>
            <a:ext cx="1600200" cy="727025"/>
          </a:xfrm>
          <a:prstGeom prst="roundRect">
            <a:avLst>
              <a:gd name="adj" fmla="val 10481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89070" y="3127177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89070" y="3320802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代码审查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73601" y="3190726"/>
            <a:ext cx="25913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29151" y="2974777"/>
            <a:ext cx="1600200" cy="727025"/>
          </a:xfrm>
          <a:prstGeom prst="roundRect">
            <a:avLst>
              <a:gd name="adj" fmla="val 10481"/>
            </a:avLst>
          </a:prstGeom>
          <a:solidFill>
            <a:srgbClr val="00A89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046321" y="3127177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046321" y="3320802"/>
            <a:ext cx="11658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开发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42839"/>
            <a:ext cx="9144000" cy="0"/>
          </a:xfrm>
          <a:prstGeom prst="line">
            <a:avLst/>
          </a:prstGeom>
          <a:noFill/>
          <a:ln w="9525">
            <a:solidFill>
              <a:srgbClr val="2D4A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317450"/>
            <a:ext cx="8031682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 红-绿-重构循环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34901" y="1365052"/>
            <a:ext cx="375671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核心循环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1869877"/>
            <a:ext cx="3683050" cy="704850"/>
          </a:xfrm>
          <a:prstGeom prst="roundRect">
            <a:avLst>
              <a:gd name="adj" fmla="val 14414"/>
            </a:avLst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501" y="2098477"/>
            <a:ext cx="32903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RED（红）：写一个失败的测试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4901" y="2727127"/>
            <a:ext cx="3683050" cy="704850"/>
          </a:xfrm>
          <a:prstGeom prst="roundRect">
            <a:avLst>
              <a:gd name="adj" fmla="val 14414"/>
            </a:avLst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3501" y="2955727"/>
            <a:ext cx="329036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GREEN（绿）：写最小代码让测试通过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4901" y="3584377"/>
            <a:ext cx="3683050" cy="952500"/>
          </a:xfrm>
          <a:prstGeom prst="roundRect">
            <a:avLst>
              <a:gd name="adj" fmla="val 10667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3501" y="3812977"/>
            <a:ext cx="329036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REFACTOR（重构）：改善代码，保持测试通过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25901" y="1861393"/>
            <a:ext cx="3683198" cy="2178993"/>
          </a:xfrm>
          <a:prstGeom prst="roundRect">
            <a:avLst>
              <a:gd name="adj" fmla="val 6994"/>
            </a:avLst>
          </a:prstGeom>
          <a:solidFill>
            <a:srgbClr val="1A365D"/>
          </a:solidFill>
          <a:ln w="19050">
            <a:solidFill>
              <a:srgbClr val="00A89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97120" y="2261443"/>
            <a:ext cx="2940760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铁律：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97120" y="2817614"/>
            <a:ext cx="2940760" cy="822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spcBef>
                <a:spcPts val="1500"/>
              </a:spcBef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没有先失败的测试，就不能写生产代码。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901" y="279350"/>
            <a:ext cx="1346963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效果对比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34901" y="825401"/>
            <a:ext cx="2006352" cy="5334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2602" y="977801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41253" y="825401"/>
            <a:ext cx="2933849" cy="533400"/>
          </a:xfrm>
          <a:prstGeom prst="rect">
            <a:avLst/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18954" y="977801"/>
            <a:ext cx="7110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无流程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5102" y="825401"/>
            <a:ext cx="2933998" cy="5334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52802" y="992088"/>
            <a:ext cx="9921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Superpowers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4901" y="1896963"/>
            <a:ext cx="78741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901" y="1358801"/>
            <a:ext cx="2006352" cy="5334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12602" y="1511201"/>
            <a:ext cx="54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41253" y="1358801"/>
            <a:ext cx="2933849" cy="533400"/>
          </a:xfrm>
          <a:prstGeom prst="rect">
            <a:avLst/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18954" y="1511201"/>
            <a:ext cx="1515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高（代码未经测试）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5102" y="1358801"/>
            <a:ext cx="2933998" cy="5334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52802" y="1511201"/>
            <a:ext cx="1178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低（每步验证）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4901" y="2439888"/>
            <a:ext cx="78741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901" y="1901726"/>
            <a:ext cx="2006352" cy="5334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602" y="2054126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可维护性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41253" y="1901726"/>
            <a:ext cx="2933849" cy="533400"/>
          </a:xfrm>
          <a:prstGeom prst="rect">
            <a:avLst/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818954" y="2054126"/>
            <a:ext cx="1178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低（临时代码）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5102" y="1901726"/>
            <a:ext cx="2933998" cy="5334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752802" y="2054126"/>
            <a:ext cx="1178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高（计划驱动）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4901" y="2982813"/>
            <a:ext cx="78741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901" y="2444651"/>
            <a:ext cx="2006352" cy="5334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12602" y="2597051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641253" y="2444651"/>
            <a:ext cx="2933849" cy="533400"/>
          </a:xfrm>
          <a:prstGeom prst="rect">
            <a:avLst/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818954" y="2597051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难（上下文丢失）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5102" y="2444651"/>
            <a:ext cx="2933998" cy="5334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52802" y="2597051"/>
            <a:ext cx="1683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易（设计文档持久化）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4901" y="3525738"/>
            <a:ext cx="78741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901" y="2987576"/>
            <a:ext cx="2006352" cy="5334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12602" y="3139976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调试效率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41253" y="2987576"/>
            <a:ext cx="2933849" cy="533400"/>
          </a:xfrm>
          <a:prstGeom prst="rect">
            <a:avLst/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818954" y="3139976"/>
            <a:ext cx="1525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慢（Bug 原因不明）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75102" y="2987576"/>
            <a:ext cx="2933998" cy="5334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752802" y="3139976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快（系统化调试）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4901" y="4068663"/>
            <a:ext cx="7874198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901" y="3530501"/>
            <a:ext cx="2006352" cy="5334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812602" y="3682901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代码复用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41253" y="3530501"/>
            <a:ext cx="2933849" cy="533400"/>
          </a:xfrm>
          <a:prstGeom prst="rect">
            <a:avLst/>
          </a:prstGeom>
          <a:solidFill>
            <a:srgbClr val="FED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818954" y="3682901"/>
            <a:ext cx="1346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5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差（重复造轮子）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575102" y="3530501"/>
            <a:ext cx="2933998" cy="533400"/>
          </a:xfrm>
          <a:prstGeom prst="rect">
            <a:avLst/>
          </a:prstGeom>
          <a:solidFill>
            <a:srgbClr val="C6F6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752802" y="3682901"/>
            <a:ext cx="144988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767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好（Skills 可组合）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19188"/>
            <a:ext cx="9144000" cy="0"/>
          </a:xfrm>
          <a:prstGeom prst="line">
            <a:avLst/>
          </a:prstGeom>
          <a:noFill/>
          <a:ln w="9525">
            <a:solidFill>
              <a:srgbClr val="2D4A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34901" y="381000"/>
            <a:ext cx="803168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34901" y="1377851"/>
            <a:ext cx="3821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免费系列教程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34901" y="1819126"/>
            <a:ext cx="3746599" cy="12951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篇：安装与验证</a:t>
            </a:r>
            <a:endParaRPr lang="en-US" sz="14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2 篇：核心工作流详解</a:t>
            </a:r>
            <a:endParaRPr lang="en-US" sz="14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3 篇：实战案例</a:t>
            </a:r>
            <a:endParaRPr lang="en-US" sz="14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篇：进阶技能与团队协作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2500" y="1377851"/>
            <a:ext cx="382153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6E0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付费服务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762500" y="1819126"/>
            <a:ext cx="3746599" cy="94595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对 1 辅导</a:t>
            </a:r>
            <a:endParaRPr lang="en-US" sz="14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团队培训</a:t>
            </a:r>
            <a:endParaRPr lang="en-US" sz="14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技能定制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6159" y="4358580"/>
            <a:ext cx="8031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github.com/obra/superpowers | 118k Stars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Superpowers 快速入门</dc:title>
  <dc:subject>AI 编码助手工作流</dc:subject>
  <dc:creator>Superpowers</dc:creator>
  <cp:lastModifiedBy>Superpowers</cp:lastModifiedBy>
  <cp:revision>1</cp:revision>
  <dcterms:created xsi:type="dcterms:W3CDTF">2026-03-30T08:55:39Z</dcterms:created>
  <dcterms:modified xsi:type="dcterms:W3CDTF">2026-03-30T08:55:39Z</dcterms:modified>
</cp:coreProperties>
</file>