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12602"/>
          </a:xfrm>
          <a:prstGeom prst="rect">
            <a:avLst/>
          </a:prstGeom>
          <a:solidFill>
            <a:srgbClr val="1A05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03150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56034" y="320576"/>
            <a:ext cx="11233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6651" y="203150"/>
            <a:ext cx="77207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看图学会原理 · Hermes Agent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6651" y="476101"/>
            <a:ext cx="7720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 · TECHNICAL DEEP DIVE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387673"/>
            <a:ext cx="2375148" cy="272951"/>
          </a:xfrm>
          <a:prstGeom prst="roundRect">
            <a:avLst>
              <a:gd name="adj" fmla="val 93057"/>
            </a:avLst>
          </a:prstGeom>
          <a:solidFill>
            <a:srgbClr val="00C896">
              <a:alpha val="15000"/>
            </a:srgbClr>
          </a:solidFill>
          <a:ln w="9525">
            <a:solidFill>
              <a:srgbClr val="00C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9875" y="1447949"/>
            <a:ext cx="20923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NousResearch · Open Source · 27K+ Stars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7950" y="1838325"/>
            <a:ext cx="523361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Aft>
                <a:spcPts val="12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深入理解</a:t>
            </a:r>
            <a:endParaRPr lang="en-US" sz="2600" dirty="0"/>
          </a:p>
          <a:p>
            <a:pPr algn="l" indent="0" marL="0">
              <a:lnSpc>
                <a:spcPts val="3120"/>
              </a:lnSpc>
              <a:spcAft>
                <a:spcPts val="12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核心架构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07950" y="2783086"/>
            <a:ext cx="52336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四大核心模块：记忆系统、学习闭环、ACP 协议、技能生态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7950" y="3094137"/>
            <a:ext cx="523361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github.com/NousResearch/hermes-agent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7950" y="3405188"/>
            <a:ext cx="2204145" cy="349151"/>
          </a:xfrm>
          <a:prstGeom prst="roundRect">
            <a:avLst>
              <a:gd name="adj" fmla="val 21824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1101" y="3494038"/>
            <a:ext cx="18338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hermes-agent.nousresearch.com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42099" y="1066502"/>
            <a:ext cx="2793950" cy="520601"/>
          </a:xfrm>
          <a:prstGeom prst="roundRect">
            <a:avLst>
              <a:gd name="adj" fmla="val 1951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19800" y="1193453"/>
            <a:ext cx="1685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37399" y="1245840"/>
            <a:ext cx="699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四层记忆系统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42099" y="1688604"/>
            <a:ext cx="2793950" cy="520601"/>
          </a:xfrm>
          <a:prstGeom prst="roundRect">
            <a:avLst>
              <a:gd name="adj" fmla="val 1951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19800" y="1815554"/>
            <a:ext cx="1685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37399" y="1867942"/>
            <a:ext cx="5829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自学习闭环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42099" y="2310705"/>
            <a:ext cx="2793950" cy="520601"/>
          </a:xfrm>
          <a:prstGeom prst="roundRect">
            <a:avLst>
              <a:gd name="adj" fmla="val 1951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19800" y="2437656"/>
            <a:ext cx="1685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37399" y="2490043"/>
            <a:ext cx="8930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 + MCP 协议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842099" y="2932807"/>
            <a:ext cx="2793950" cy="520601"/>
          </a:xfrm>
          <a:prstGeom prst="roundRect">
            <a:avLst>
              <a:gd name="adj" fmla="val 1951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19800" y="3059757"/>
            <a:ext cx="1685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337399" y="3112145"/>
            <a:ext cx="699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技能生态系统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42099" y="3554909"/>
            <a:ext cx="2793950" cy="520601"/>
          </a:xfrm>
          <a:prstGeom prst="roundRect">
            <a:avLst>
              <a:gd name="adj" fmla="val 19516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19800" y="3681859"/>
            <a:ext cx="15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24749" y="3734246"/>
            <a:ext cx="699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灵活部署架构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0" y="4329410"/>
            <a:ext cx="9144000" cy="345877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7950" y="4430911"/>
            <a:ext cx="8290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调研日期：2026-04-08 · 报告 | 使用指南 | 原理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7801"/>
          </a:xfrm>
          <a:prstGeom prst="rect">
            <a:avLst/>
          </a:prstGeom>
          <a:solidFill>
            <a:srgbClr val="1A05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03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2257" y="384125"/>
            <a:ext cx="1310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2851" y="228600"/>
            <a:ext cx="737527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四层记忆系统（Memory Architecture）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851" y="568226"/>
            <a:ext cx="73752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没有单一记忆系统，而是四层协作 · 解决上下文膨胀问题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51218" y="417463"/>
            <a:ext cx="86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180951"/>
            <a:ext cx="2362200" cy="1098203"/>
          </a:xfrm>
          <a:prstGeom prst="roundRect">
            <a:avLst>
              <a:gd name="adj" fmla="val 92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51" y="12824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677" y="1393478"/>
            <a:ext cx="1361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1101" y="1815703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93602" y="1282452"/>
            <a:ext cx="1450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提示记忆 Prompt Memory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93602" y="1469678"/>
            <a:ext cx="145003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最精炼的上下文，始终保持轻量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93602" y="1626989"/>
            <a:ext cx="14500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MEMORY.md / USER.md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07950" y="2355354"/>
            <a:ext cx="2362200" cy="1098203"/>
          </a:xfrm>
          <a:prstGeom prst="roundRect">
            <a:avLst>
              <a:gd name="adj" fmla="val 92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85651" y="2456855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96677" y="2567880"/>
            <a:ext cx="1361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1101" y="2990106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93602" y="2456855"/>
            <a:ext cx="145003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工作记忆 Working Memory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93602" y="2644080"/>
            <a:ext cx="145003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当前会话信息，会话结束时清空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93602" y="2801392"/>
            <a:ext cx="14500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会话上下文窗口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07950" y="3529757"/>
            <a:ext cx="2362200" cy="1098203"/>
          </a:xfrm>
          <a:prstGeom prst="roundRect">
            <a:avLst>
              <a:gd name="adj" fmla="val 92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5651" y="363125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96677" y="3742283"/>
            <a:ext cx="1361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11101" y="4164509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93602" y="3631257"/>
            <a:ext cx="13465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技能记忆 Skills Memory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93602" y="3818483"/>
            <a:ext cx="1346508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封装的操作技能，跨会话复用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93602" y="3975795"/>
            <a:ext cx="13465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skills/ 目录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07950" y="4704159"/>
            <a:ext cx="2362200" cy="1098203"/>
          </a:xfrm>
          <a:prstGeom prst="roundRect">
            <a:avLst>
              <a:gd name="adj" fmla="val 92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85651" y="480566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96677" y="4916686"/>
            <a:ext cx="1361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1101" y="5338911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93602" y="4805660"/>
            <a:ext cx="15546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长期记忆 Long-term Memory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93602" y="4992886"/>
            <a:ext cx="1554632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持久化知识，跨会话和跨平台同步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93602" y="5150197"/>
            <a:ext cx="155463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数据库/文件存储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073301" y="1180951"/>
            <a:ext cx="3060055" cy="719286"/>
          </a:xfrm>
          <a:prstGeom prst="roundRect">
            <a:avLst>
              <a:gd name="adj" fmla="val 14125"/>
            </a:avLst>
          </a:prstGeom>
          <a:solidFill>
            <a:srgbClr val="DC2626">
              <a:alpha val="8000"/>
            </a:srgbClr>
          </a:solidFill>
          <a:ln w="9525">
            <a:solidFill>
              <a:srgbClr val="DC262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235226" y="1291977"/>
            <a:ext cx="2790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对比 OpenClaw 的问题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235226" y="1504652"/>
            <a:ext cx="27909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使用单一记忆层，把所有内容都塞进上下文窗口。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35226" y="1646932"/>
            <a:ext cx="279092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导致 token 膨胀、性能下降、信息遗忘。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073301" y="1976438"/>
            <a:ext cx="3060055" cy="1328291"/>
          </a:xfrm>
          <a:prstGeom prst="roundRect">
            <a:avLst>
              <a:gd name="adj" fmla="val 7649"/>
            </a:avLst>
          </a:prstGeom>
          <a:solidFill>
            <a:srgbClr val="F0FDF4"/>
          </a:solidFill>
          <a:ln w="9525">
            <a:solidFill>
              <a:srgbClr val="00C896"/>
            </a:solidFill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235226" y="2087463"/>
            <a:ext cx="16571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的解决方案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235226" y="2274689"/>
            <a:ext cx="1657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分层管理，不同层级负责不同任务：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235226" y="2457450"/>
            <a:ext cx="1657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400"/>
              </a:spcBef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→ 最精炼的系统提示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235226" y="2589461"/>
            <a:ext cx="1657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→ 实时会话处理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235226" y="2721471"/>
            <a:ext cx="1657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→ 结构化技能复用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235226" y="2853482"/>
            <a:ext cx="1657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→ 知识持久化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235226" y="3061692"/>
            <a:ext cx="1657100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spcBef>
                <a:spcPts val="600"/>
              </a:spcBef>
              <a:buNone/>
            </a:pPr>
            <a:r>
              <a:rPr lang="en-US" sz="8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结果：上下文永不膨胀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7801"/>
          </a:xfrm>
          <a:prstGeom prst="rect">
            <a:avLst/>
          </a:prstGeom>
          <a:solidFill>
            <a:srgbClr val="1A05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03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2257" y="384125"/>
            <a:ext cx="1310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2851" y="228600"/>
            <a:ext cx="737527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自我学习闭环（Self-Improving Loop）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851" y="568226"/>
            <a:ext cx="73752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唯一内置学习闭环的 Agent · 越用越聪明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51218" y="417463"/>
            <a:ext cx="86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920" y="1333351"/>
            <a:ext cx="1320552" cy="585936"/>
          </a:xfrm>
          <a:prstGeom prst="roundRect">
            <a:avLst>
              <a:gd name="adj" fmla="val 21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3245" y="1460302"/>
            <a:ext cx="11399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执行任务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245" y="1660327"/>
            <a:ext cx="1139901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用户提出需求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43471" y="1492895"/>
            <a:ext cx="239700" cy="2667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78471" y="1333351"/>
            <a:ext cx="1320552" cy="585936"/>
          </a:xfrm>
          <a:prstGeom prst="roundRect">
            <a:avLst>
              <a:gd name="adj" fmla="val 21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668796" y="1460302"/>
            <a:ext cx="11399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经验积累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68796" y="1660327"/>
            <a:ext cx="1139901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记录执行过程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899023" y="1492895"/>
            <a:ext cx="239700" cy="2667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134023" y="1333351"/>
            <a:ext cx="1320552" cy="585936"/>
          </a:xfrm>
          <a:prstGeom prst="roundRect">
            <a:avLst>
              <a:gd name="adj" fmla="val 21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24348" y="1460302"/>
            <a:ext cx="11399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技能生成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24348" y="1660327"/>
            <a:ext cx="1139901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自动封装为 Skill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454575" y="1492895"/>
            <a:ext cx="239700" cy="2667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89574" y="1333351"/>
            <a:ext cx="1320552" cy="585936"/>
          </a:xfrm>
          <a:prstGeom prst="roundRect">
            <a:avLst>
              <a:gd name="adj" fmla="val 21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79899" y="1460302"/>
            <a:ext cx="11399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持续改进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79899" y="1660327"/>
            <a:ext cx="1139901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使用中优化表现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10126" y="1492895"/>
            <a:ext cx="239700" cy="2667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245126" y="1333351"/>
            <a:ext cx="1320552" cy="585936"/>
          </a:xfrm>
          <a:prstGeom prst="roundRect">
            <a:avLst>
              <a:gd name="adj" fmla="val 216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35451" y="1460302"/>
            <a:ext cx="11399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记忆持久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35451" y="1660327"/>
            <a:ext cx="1139901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写入长期记忆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565678" y="1492895"/>
            <a:ext cx="239700" cy="26670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800677" y="1333351"/>
            <a:ext cx="1320552" cy="585936"/>
          </a:xfrm>
          <a:prstGeom prst="roundRect">
            <a:avLst>
              <a:gd name="adj" fmla="val 21675"/>
            </a:avLst>
          </a:prstGeom>
          <a:solidFill>
            <a:srgbClr val="F0FDF4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91003" y="1460302"/>
            <a:ext cx="11399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下一轮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891003" y="1660327"/>
            <a:ext cx="1139901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更懂用户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7950" y="2198638"/>
            <a:ext cx="2607766" cy="876746"/>
          </a:xfrm>
          <a:prstGeom prst="roundRect">
            <a:avLst>
              <a:gd name="adj" fmla="val 144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507950" y="2217688"/>
            <a:ext cx="2607766" cy="0"/>
          </a:xfrm>
          <a:prstGeom prst="line">
            <a:avLst/>
          </a:prstGeom>
          <a:noFill/>
          <a:ln w="38100">
            <a:solidFill>
              <a:srgbClr val="00C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651" y="2389138"/>
            <a:ext cx="2297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自动创建技能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651" y="2620863"/>
            <a:ext cx="2297412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完成复杂任务后，自动将操作过程封装为 YAML 格式的技能文件，存入 skills/ 目录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68117" y="2198638"/>
            <a:ext cx="2607766" cy="876746"/>
          </a:xfrm>
          <a:prstGeom prst="roundRect">
            <a:avLst>
              <a:gd name="adj" fmla="val 144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268117" y="2217688"/>
            <a:ext cx="2607766" cy="0"/>
          </a:xfrm>
          <a:prstGeom prst="line">
            <a:avLst/>
          </a:prstGeom>
          <a:noFill/>
          <a:ln w="38100">
            <a:solidFill>
              <a:srgbClr val="00C89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45818" y="2389138"/>
            <a:ext cx="2297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技能自我改进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45818" y="2620863"/>
            <a:ext cx="2297412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每次技能执行后评估效果，由 LLM 分析不足并优化技能描述和参数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28283" y="2198638"/>
            <a:ext cx="2607766" cy="876746"/>
          </a:xfrm>
          <a:prstGeom prst="roundRect">
            <a:avLst>
              <a:gd name="adj" fmla="val 144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6028283" y="2217688"/>
            <a:ext cx="2607766" cy="0"/>
          </a:xfrm>
          <a:prstGeom prst="line">
            <a:avLst/>
          </a:prstGeom>
          <a:noFill/>
          <a:ln w="38100">
            <a:solidFill>
              <a:srgbClr val="00C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05984" y="2389138"/>
            <a:ext cx="2297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跨会话搜索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205984" y="2620863"/>
            <a:ext cx="2297412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搜索历史对话，LLM 总结关键内容，提取为可复用知识片段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07950" y="3227784"/>
            <a:ext cx="8128099" cy="628352"/>
          </a:xfrm>
          <a:prstGeom prst="roundRect">
            <a:avLst>
              <a:gd name="adj" fmla="val 1616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11101" y="3354735"/>
            <a:ext cx="78762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Hermes: "我注意到你经常需要... 我已将其保存为技能 my_workflow"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11101" y="3541961"/>
            <a:ext cx="78762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i="1" dirty="0">
                <a:solidFill>
                  <a:srgbClr val="FFFFFF">
                    <a:alpha val="4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Agent 主动创建技能提示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7801"/>
          </a:xfrm>
          <a:prstGeom prst="rect">
            <a:avLst/>
          </a:prstGeom>
          <a:solidFill>
            <a:srgbClr val="1A05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03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2257" y="384125"/>
            <a:ext cx="1310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2851" y="228600"/>
            <a:ext cx="73681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 协议 &amp; MCP 支持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851" y="568226"/>
            <a:ext cx="73681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Communication Protocol · 团队 Agent 协作标准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44223" y="417463"/>
            <a:ext cx="936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206401"/>
            <a:ext cx="3975199" cy="1660178"/>
          </a:xfrm>
          <a:prstGeom prst="roundRect">
            <a:avLst>
              <a:gd name="adj" fmla="val 76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1206401"/>
            <a:ext cx="0" cy="1660178"/>
          </a:xfrm>
          <a:prstGeom prst="line">
            <a:avLst/>
          </a:prstGeom>
          <a:noFill/>
          <a:ln w="47625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3276" y="1384102"/>
            <a:ext cx="36436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ACP（自研协议）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3276" y="1660327"/>
            <a:ext cx="3643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 自研的多 Agent 通信协议，实现团队协作。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3276" y="1896517"/>
            <a:ext cx="3643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核心组件：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3276" y="2094607"/>
            <a:ext cx="3643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 Server — VS Code / Zed / JetBrains 集成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3276" y="2292697"/>
            <a:ext cx="3643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 Adapter — 通用外部 Agent 适配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3276" y="2490788"/>
            <a:ext cx="3643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 Registry — 技能与服务注册中心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7950" y="2993529"/>
            <a:ext cx="3975199" cy="1921371"/>
          </a:xfrm>
          <a:prstGeom prst="roundRect">
            <a:avLst>
              <a:gd name="adj" fmla="val 66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5651" y="3171230"/>
            <a:ext cx="3692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集成方式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651" y="3483918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88653" y="3453705"/>
            <a:ext cx="17538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— ACP Server 内置支持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651" y="3722043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88653" y="3691830"/>
            <a:ext cx="14879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Zed — ACP Server 内置支持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651" y="3960168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88653" y="3929955"/>
            <a:ext cx="177307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JetBrains — ACP Server 内置支持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651" y="4198293"/>
            <a:ext cx="101501" cy="101501"/>
          </a:xfrm>
          <a:prstGeom prst="roundRect">
            <a:avLst>
              <a:gd name="adj" fmla="val 900878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88653" y="4168080"/>
            <a:ext cx="19696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Paperclip 演示 — Agent 作为团队成员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660850" y="1206401"/>
            <a:ext cx="3975199" cy="1622078"/>
          </a:xfrm>
          <a:prstGeom prst="roundRect">
            <a:avLst>
              <a:gd name="adj" fmla="val 7829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84663" y="1206401"/>
            <a:ext cx="0" cy="1622078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6176" y="1384102"/>
            <a:ext cx="36436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MCP（Model Context Protocol）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86176" y="1660327"/>
            <a:ext cx="3643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提出的开放标准，Hermes Agent 原生支持：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86176" y="1858417"/>
            <a:ext cx="3643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stdio 和 HTTP 传输协议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86176" y="2056507"/>
            <a:ext cx="3643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自动重连机制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86176" y="2254597"/>
            <a:ext cx="3643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 / 提示词发现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86176" y="2452688"/>
            <a:ext cx="36436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采样（服务端发起 LLM 请求）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60850" y="2955429"/>
            <a:ext cx="3975199" cy="938808"/>
          </a:xfrm>
          <a:prstGeom prst="roundRect">
            <a:avLst>
              <a:gd name="adj" fmla="val 10822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22775" y="3091904"/>
            <a:ext cx="37243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实际意义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22775" y="3304580"/>
            <a:ext cx="3724376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 可以作为团队中的 Managed Employee，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22775" y="3455640"/>
            <a:ext cx="3724376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 Claude Code、Cursor 等工具协作，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22775" y="3606701"/>
            <a:ext cx="3724376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buNone/>
            </a:pPr>
            <a:r>
              <a:rPr lang="en-US" sz="8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完成代码审查、文档生成、调试等任务。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7801"/>
          </a:xfrm>
          <a:prstGeom prst="rect">
            <a:avLst/>
          </a:prstGeom>
          <a:solidFill>
            <a:srgbClr val="1A05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03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2257" y="384125"/>
            <a:ext cx="1310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2851" y="228600"/>
            <a:ext cx="7368144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技能生态系统（Skills Ecosystem）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851" y="568226"/>
            <a:ext cx="73681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70+ 内置技能 · 15+ 分类 · Skills Hub 社区共享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44223" y="417463"/>
            <a:ext cx="9366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206401"/>
            <a:ext cx="3975199" cy="1022598"/>
          </a:xfrm>
          <a:prstGeom prst="roundRect">
            <a:avLst>
              <a:gd name="adj" fmla="val 124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51" y="1358801"/>
            <a:ext cx="3692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技能来源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651" y="1603177"/>
            <a:ext cx="36921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内置技能：开箱即用，覆盖常见场景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651" y="1864668"/>
            <a:ext cx="470595" cy="211931"/>
          </a:xfrm>
          <a:prstGeom prst="roundRect">
            <a:avLst>
              <a:gd name="adj" fmla="val 23970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71376" y="1899493"/>
            <a:ext cx="30512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mlops/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23963" y="1864668"/>
            <a:ext cx="577602" cy="211931"/>
          </a:xfrm>
          <a:prstGeom prst="roundRect">
            <a:avLst>
              <a:gd name="adj" fmla="val 23970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309688" y="1899493"/>
            <a:ext cx="41427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869281" y="1864668"/>
            <a:ext cx="577602" cy="211931"/>
          </a:xfrm>
          <a:prstGeom prst="roundRect">
            <a:avLst>
              <a:gd name="adj" fmla="val 23970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955006" y="1899493"/>
            <a:ext cx="41427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文档生成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514600" y="1864668"/>
            <a:ext cx="476101" cy="211931"/>
          </a:xfrm>
          <a:prstGeom prst="roundRect">
            <a:avLst>
              <a:gd name="adj" fmla="val 23970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600325" y="1899493"/>
            <a:ext cx="31074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58418" y="1864668"/>
            <a:ext cx="577602" cy="211931"/>
          </a:xfrm>
          <a:prstGeom prst="roundRect">
            <a:avLst>
              <a:gd name="adj" fmla="val 23970"/>
            </a:avLst>
          </a:prstGeom>
          <a:solidFill>
            <a:srgbClr val="7C3AED">
              <a:alpha val="10000"/>
            </a:srgbClr>
          </a:solidFill>
          <a:ln w="9525">
            <a:solidFill>
              <a:srgbClr val="7C3A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44143" y="1899493"/>
            <a:ext cx="41427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数据处理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7950" y="2330500"/>
            <a:ext cx="3975199" cy="945356"/>
          </a:xfrm>
          <a:prstGeom prst="roundRect">
            <a:avLst>
              <a:gd name="adj" fmla="val 134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85651" y="2482900"/>
            <a:ext cx="3692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自动创建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651" y="2727275"/>
            <a:ext cx="36921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完成复杂任务后自动生成，存入 skills/ 目录，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5651" y="2925366"/>
            <a:ext cx="36921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YAML 格式存储，Agent 自行维护。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950" y="3377357"/>
            <a:ext cx="3975199" cy="824657"/>
          </a:xfrm>
          <a:prstGeom prst="roundRect">
            <a:avLst>
              <a:gd name="adj" fmla="val 15400"/>
            </a:avLst>
          </a:prstGeom>
          <a:solidFill>
            <a:srgbClr val="F0FDF4"/>
          </a:solidFill>
          <a:ln w="9525">
            <a:solidFill>
              <a:srgbClr val="00C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95176" y="3513832"/>
            <a:ext cx="36727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Hub 社区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5176" y="3745557"/>
            <a:ext cx="36727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社区贡献的技能可以发现、安装和分享，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95176" y="3905548"/>
            <a:ext cx="367276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构建良性循环的技能生态。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0850" y="1206401"/>
            <a:ext cx="3975199" cy="2463552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38551" y="1358801"/>
            <a:ext cx="3692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技能生命周期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38551" y="1641277"/>
            <a:ext cx="457051" cy="269677"/>
          </a:xfrm>
          <a:prstGeom prst="roundRect">
            <a:avLst>
              <a:gd name="adj" fmla="val 28256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65502" y="1704677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397103" y="1706017"/>
            <a:ext cx="1643134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从经验自动生成或手动编写 YAML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38551" y="1987153"/>
            <a:ext cx="457051" cy="269677"/>
          </a:xfrm>
          <a:prstGeom prst="roundRect">
            <a:avLst>
              <a:gd name="adj" fmla="val 2825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65502" y="2050554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97103" y="2051893"/>
            <a:ext cx="1680022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 Registry 统一注册，可被发现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38551" y="2333030"/>
            <a:ext cx="457051" cy="269677"/>
          </a:xfrm>
          <a:prstGeom prst="roundRect">
            <a:avLst>
              <a:gd name="adj" fmla="val 2825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965502" y="2396430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97103" y="2397770"/>
            <a:ext cx="1651180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按平台条件激活，跨平台无缝调用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838551" y="2678906"/>
            <a:ext cx="457051" cy="269677"/>
          </a:xfrm>
          <a:prstGeom prst="roundRect">
            <a:avLst>
              <a:gd name="adj" fmla="val 28256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965502" y="2742307"/>
            <a:ext cx="2072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97103" y="2743646"/>
            <a:ext cx="1541121" cy="14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每次执行后评估效果，持续改进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60850" y="3771454"/>
            <a:ext cx="3975199" cy="1143446"/>
          </a:xfrm>
          <a:prstGeom prst="roundRect">
            <a:avLst>
              <a:gd name="adj" fmla="val 111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838551" y="3923854"/>
            <a:ext cx="369219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条件激活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38551" y="4168229"/>
            <a:ext cx="36921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支持按平台启用/禁用；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38551" y="4366320"/>
            <a:ext cx="36921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支持基于工具可用性的条件激活；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38551" y="4564410"/>
            <a:ext cx="36921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支持前置依赖验证。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7801"/>
          </a:xfrm>
          <a:prstGeom prst="rect">
            <a:avLst/>
          </a:prstGeom>
          <a:solidFill>
            <a:srgbClr val="1A05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030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7168" y="384125"/>
            <a:ext cx="120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2851" y="228600"/>
            <a:ext cx="737527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部署架构 &amp; 灵活后端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2851" y="568226"/>
            <a:ext cx="73752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种部署方式 · $5 VPS 到 GPU 集群 · 按需唤醒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551218" y="417463"/>
            <a:ext cx="865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dirty="0">
                <a:solidFill>
                  <a:srgbClr val="FFFFFF">
                    <a:alpha val="4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1180951"/>
            <a:ext cx="3987850" cy="2386459"/>
          </a:xfrm>
          <a:prstGeom prst="roundRect">
            <a:avLst>
              <a:gd name="adj" fmla="val 53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7950" y="1200001"/>
            <a:ext cx="3987850" cy="0"/>
          </a:xfrm>
          <a:prstGeom prst="line">
            <a:avLst/>
          </a:prstGeom>
          <a:noFill/>
          <a:ln w="381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0350" y="1346002"/>
            <a:ext cx="37567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种部署后端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60350" y="1571327"/>
            <a:ext cx="203150" cy="203150"/>
          </a:xfrm>
          <a:prstGeom prst="roundRect">
            <a:avLst>
              <a:gd name="adj" fmla="val 25006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17352" y="1610916"/>
            <a:ext cx="907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952351" y="1558677"/>
            <a:ext cx="34588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 Local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52351" y="1745903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笔记本直接运行，零成本起步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0350" y="1964829"/>
            <a:ext cx="203150" cy="203150"/>
          </a:xfrm>
          <a:prstGeom prst="roundRect">
            <a:avLst>
              <a:gd name="adj" fmla="val 250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7352" y="2004417"/>
            <a:ext cx="907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952351" y="1952179"/>
            <a:ext cx="345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52351" y="2110829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容器化，一键部署，环境隔离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0350" y="2329755"/>
            <a:ext cx="203150" cy="203150"/>
          </a:xfrm>
          <a:prstGeom prst="roundRect">
            <a:avLst>
              <a:gd name="adj" fmla="val 25006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70471" y="2383631"/>
            <a:ext cx="18641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52351" y="2317105"/>
            <a:ext cx="34588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SSH 远程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52351" y="2504331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远程服务器，24/7 稳定运行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0350" y="2723257"/>
            <a:ext cx="203150" cy="203150"/>
          </a:xfrm>
          <a:prstGeom prst="roundRect">
            <a:avLst>
              <a:gd name="adj" fmla="val 25006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2234" y="2777133"/>
            <a:ext cx="605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952351" y="2710607"/>
            <a:ext cx="345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Singularity / Daytona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52351" y="2869257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无服务器，按需唤醒，灵活扩展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0350" y="3088184"/>
            <a:ext cx="203150" cy="203150"/>
          </a:xfrm>
          <a:prstGeom prst="roundRect">
            <a:avLst>
              <a:gd name="adj" fmla="val 25006"/>
            </a:avLst>
          </a:prstGeom>
          <a:solidFill>
            <a:srgbClr val="DC262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24793" y="3142059"/>
            <a:ext cx="755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52351" y="3075533"/>
            <a:ext cx="345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52351" y="3234184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空闲时几乎零成本，按使用计费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7950" y="3668911"/>
            <a:ext cx="3987850" cy="339030"/>
          </a:xfrm>
          <a:prstGeom prst="roundRect">
            <a:avLst>
              <a:gd name="adj" fmla="val 29968"/>
            </a:avLst>
          </a:prstGeom>
          <a:solidFill>
            <a:srgbClr val="EFF6FF"/>
          </a:solidFill>
          <a:ln w="9525">
            <a:solidFill>
              <a:srgbClr val="93C5F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44426" y="3767286"/>
            <a:ext cx="378919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Daytona 和 Modal 支持按需唤醒：空闲时环境休眠，收到消息时自动唤醒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48200" y="1180951"/>
            <a:ext cx="3987850" cy="2091333"/>
          </a:xfrm>
          <a:prstGeom prst="roundRect">
            <a:avLst>
              <a:gd name="adj" fmla="val 60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00600" y="1307902"/>
            <a:ext cx="37567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与其他 Agent 的差异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00600" y="1546027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68168" y="1590377"/>
            <a:ext cx="692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92601" y="1571327"/>
            <a:ext cx="13364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真正多平台（8+）统一接入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00600" y="181257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68168" y="1856929"/>
            <a:ext cx="692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092601" y="1837879"/>
            <a:ext cx="14310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模型无关，不绑定任何提供商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00600" y="207912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868168" y="2123480"/>
            <a:ext cx="692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92601" y="2104430"/>
            <a:ext cx="14310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内置学习闭环，自动创建技能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00600" y="2345680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868168" y="2390031"/>
            <a:ext cx="692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092601" y="2370981"/>
            <a:ext cx="132100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四层记忆，避免上下文膨胀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00600" y="261223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868168" y="2656582"/>
            <a:ext cx="692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92601" y="2637532"/>
            <a:ext cx="17046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 协议，支持多 Agent 团队协作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800600" y="287878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00C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868168" y="2923133"/>
            <a:ext cx="692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092601" y="2904083"/>
            <a:ext cx="128457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 VPS 即可运行，零门槛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648200" y="3373785"/>
            <a:ext cx="3987850" cy="1628031"/>
          </a:xfrm>
          <a:prstGeom prst="roundRect">
            <a:avLst>
              <a:gd name="adj" fmla="val 78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4648200" y="3392835"/>
            <a:ext cx="398785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00600" y="3538835"/>
            <a:ext cx="37567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成本对比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00600" y="3764161"/>
            <a:ext cx="203150" cy="203150"/>
          </a:xfrm>
          <a:prstGeom prst="roundRect">
            <a:avLst>
              <a:gd name="adj" fmla="val 25006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877395" y="3818037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092601" y="3751511"/>
            <a:ext cx="345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 VPS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092601" y="3910161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基础运行，轻量使用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800600" y="4129088"/>
            <a:ext cx="203150" cy="203150"/>
          </a:xfrm>
          <a:prstGeom prst="roundRect">
            <a:avLst>
              <a:gd name="adj" fmla="val 25006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877395" y="4182963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5092601" y="4116437"/>
            <a:ext cx="34588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092601" y="4275088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按调用计费，接近零成本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800600" y="4494014"/>
            <a:ext cx="203150" cy="203150"/>
          </a:xfrm>
          <a:prstGeom prst="roundRect">
            <a:avLst>
              <a:gd name="adj" fmla="val 25006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877395" y="4547890"/>
            <a:ext cx="5055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092601" y="4481364"/>
            <a:ext cx="34588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A05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集群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092601" y="4668589"/>
            <a:ext cx="34588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高并发，企业级部署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22056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72257" y="344388"/>
            <a:ext cx="1310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2851" y="203150"/>
            <a:ext cx="764306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原理指南 · 总结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2851" y="514201"/>
            <a:ext cx="764306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四大核心架构 · 技术要点回顾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7950" y="2007840"/>
            <a:ext cx="497448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spcAft>
                <a:spcPts val="14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理解本质，</a:t>
            </a:r>
            <a:endParaRPr lang="en-US" sz="2600" dirty="0"/>
          </a:p>
          <a:p>
            <a:pPr algn="l" indent="0" marL="0">
              <a:lnSpc>
                <a:spcPts val="3120"/>
              </a:lnSpc>
              <a:spcAft>
                <a:spcPts val="1400"/>
              </a:spcAft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用好 Hermes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7950" y="2977902"/>
            <a:ext cx="4974488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Hermes Agent 的核心不是框架，而是一套自进化系统的工程实现。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3302943"/>
            <a:ext cx="4974488" cy="223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掌握四层记忆、自学习闭环、ACP 协议、技能生态，你就掌握了它的本质。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3627983"/>
            <a:ext cx="2933700" cy="406003"/>
          </a:xfrm>
          <a:prstGeom prst="roundRect">
            <a:avLst>
              <a:gd name="adj" fmla="val 18768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36550" y="3729484"/>
            <a:ext cx="2526030" cy="203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github.com/NousResearch/hermes-agent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88050" y="1446461"/>
            <a:ext cx="3048000" cy="711101"/>
          </a:xfrm>
          <a:prstGeom prst="roundRect">
            <a:avLst>
              <a:gd name="adj" fmla="val 17860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791200" y="1598861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43898" y="1725811"/>
            <a:ext cx="102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49901" y="1727746"/>
            <a:ext cx="193019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四层记忆系统 — 分层管理，避免膨胀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88050" y="2259062"/>
            <a:ext cx="3048000" cy="711101"/>
          </a:xfrm>
          <a:prstGeom prst="roundRect">
            <a:avLst>
              <a:gd name="adj" fmla="val 17860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91200" y="2411462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43898" y="2538413"/>
            <a:ext cx="102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49901" y="2540347"/>
            <a:ext cx="134726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自学习闭环 — 越用越聪明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588050" y="3071664"/>
            <a:ext cx="3048000" cy="711101"/>
          </a:xfrm>
          <a:prstGeom prst="roundRect">
            <a:avLst>
              <a:gd name="adj" fmla="val 17860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791200" y="3224064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43898" y="3351014"/>
            <a:ext cx="102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49901" y="3352949"/>
            <a:ext cx="1761238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ACP + MCP — 多 Agent 协作协议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88050" y="3884265"/>
            <a:ext cx="3048000" cy="711101"/>
          </a:xfrm>
          <a:prstGeom prst="roundRect">
            <a:avLst>
              <a:gd name="adj" fmla="val 17860"/>
            </a:avLst>
          </a:prstGeom>
          <a:solidFill>
            <a:srgbClr val="FFFFFF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791200" y="4036665"/>
            <a:ext cx="406301" cy="406301"/>
          </a:xfrm>
          <a:prstGeom prst="roundRect">
            <a:avLst>
              <a:gd name="adj" fmla="val 225055"/>
            </a:avLst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943898" y="4163616"/>
            <a:ext cx="102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49901" y="4165550"/>
            <a:ext cx="1693989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技能生态 — 70+ 技能，自动进化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看图学会原理 Hermes Agent</dc:title>
  <dc:subject>PptxGenJS Presentation</dc:subject>
  <dc:creator>Claude</dc:creator>
  <cp:lastModifiedBy>Claude</cp:lastModifiedBy>
  <cp:revision>1</cp:revision>
  <dcterms:created xsi:type="dcterms:W3CDTF">2026-04-08T16:22:47Z</dcterms:created>
  <dcterms:modified xsi:type="dcterms:W3CDTF">2026-04-08T16:22:47Z</dcterms:modified>
</cp:coreProperties>
</file>