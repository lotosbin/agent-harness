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2743200" cy="2057400"/>
          </a:xfrm>
          <a:prstGeom prst="roundRect">
            <a:avLst>
              <a:gd name="adj" fmla="val 44444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7099" y="381000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00C896"/>
          </a:solidFill>
          <a:ln/>
          <a:effectLst>
            <a:outerShdw sx="100000" sy="100000" kx="0" ky="0" algn="bl" rotWithShape="0" blurRad="381000" dist="50800" dir="16200000">
              <a:srgbClr val="00c896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99499" y="533400"/>
            <a:ext cx="711101" cy="711101"/>
          </a:xfrm>
          <a:prstGeom prst="roundRect">
            <a:avLst>
              <a:gd name="adj" fmla="val 128589"/>
            </a:avLst>
          </a:prstGeom>
          <a:noFill/>
          <a:ln w="3810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81677" y="769888"/>
            <a:ext cx="1496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30103" y="1058317"/>
            <a:ext cx="2934146" cy="314325"/>
          </a:xfrm>
          <a:prstGeom prst="roundRect">
            <a:avLst>
              <a:gd name="adj" fmla="val 80808"/>
            </a:avLst>
          </a:prstGeom>
          <a:solidFill>
            <a:srgbClr val="00C896">
              <a:alpha val="20000"/>
            </a:srgbClr>
          </a:solidFill>
          <a:ln w="9525">
            <a:solidFill>
              <a:srgbClr val="00C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42779" y="1144042"/>
            <a:ext cx="2558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RESEARCH · OPEN 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30103" y="1575792"/>
            <a:ext cx="3757318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看图学会使用</a:t>
            </a:r>
            <a:endParaRPr lang="en-US" sz="3400" dirty="0"/>
          </a:p>
          <a:p>
            <a:pPr algn="l" indent="0" marL="0">
              <a:lnSpc>
                <a:spcPts val="4080"/>
              </a:lnSpc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30103" y="2764334"/>
            <a:ext cx="37573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自学习型 AI Agent · 多平台 · 多模型 · 自我进化</a:t>
            </a:r>
            <a:endParaRPr lang="en-US" sz="1400" dirty="0"/>
          </a:p>
          <a:p>
            <a:pPr algn="l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零基础入门，一图一步骤，轻松上手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30103" y="3678734"/>
            <a:ext cx="2704058" cy="406301"/>
          </a:xfrm>
          <a:prstGeom prst="roundRect">
            <a:avLst>
              <a:gd name="adj" fmla="val 18755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84004" y="3805684"/>
            <a:ext cx="22401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hermes-agent.nousresearch.com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901" y="4615011"/>
            <a:ext cx="787419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4746724"/>
            <a:ext cx="10477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调研日期：2026-04-08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70428" y="4761012"/>
            <a:ext cx="10594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~27,000+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Hermes Agent？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自我进化的 AI Agent · 核心概念速览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427708"/>
            <a:ext cx="8128099" cy="1174254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1427708"/>
            <a:ext cx="0" cy="1174254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001" y="1630859"/>
            <a:ext cx="7714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的定位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9001" y="1916609"/>
            <a:ext cx="771441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 Agent 框架，而是一个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会自我成长的个人 AI 助手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9001" y="2157710"/>
            <a:ext cx="771441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它能记住你的偏好、从经验中学习、在使用中进化——越用越懂你。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779663"/>
            <a:ext cx="8128099" cy="1174254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6525" y="2779663"/>
            <a:ext cx="0" cy="1174254"/>
          </a:xfrm>
          <a:prstGeom prst="line">
            <a:avLst/>
          </a:prstGeom>
          <a:noFill/>
          <a:ln w="571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001" y="2982813"/>
            <a:ext cx="7714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与其他 Agent 的核心差异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9001" y="3268563"/>
            <a:ext cx="771441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大多数 Agent：能力固定，用完即忘。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9001" y="3509665"/>
            <a:ext cx="7714411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Agent：内置学习闭环，自动创建技能，跨会话记忆，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真正进化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4258568"/>
            <a:ext cx="8128099" cy="434876"/>
          </a:xfrm>
          <a:prstGeom prst="roundRect">
            <a:avLst>
              <a:gd name="adj" fmla="val 17522"/>
            </a:avLst>
          </a:prstGeom>
          <a:solidFill>
            <a:srgbClr val="00C89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101" y="4385518"/>
            <a:ext cx="78762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关键词：自学习闭环 · 四层记忆系统 · 多平台网关 · 多模型支持 · ACP 协议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Hermes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/ macOS 一键安装 · 5 分钟快速部署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31702"/>
            <a:ext cx="5130998" cy="696516"/>
          </a:xfrm>
          <a:prstGeom prst="roundRect">
            <a:avLst>
              <a:gd name="adj" fmla="val 1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384102"/>
            <a:ext cx="4871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运行安装脚本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651" y="1615827"/>
            <a:ext cx="48711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在终端执行官方一键安装脚本（全自动，无需手动配置）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2055168"/>
            <a:ext cx="5130998" cy="696516"/>
          </a:xfrm>
          <a:prstGeom prst="roundRect">
            <a:avLst>
              <a:gd name="adj" fmla="val 1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207568"/>
            <a:ext cx="4871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配置 API Key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651" y="2439293"/>
            <a:ext cx="48711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设置环境变量或运行 hermes model 选择模型提供商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878634"/>
            <a:ext cx="5130998" cy="696516"/>
          </a:xfrm>
          <a:prstGeom prst="roundRect">
            <a:avLst>
              <a:gd name="adj" fmla="val 1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3031034"/>
            <a:ext cx="4871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启动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651" y="3262759"/>
            <a:ext cx="48711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hermes 即可启动 CLI 界面，开始对话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702100"/>
            <a:ext cx="5130998" cy="618976"/>
          </a:xfrm>
          <a:prstGeom prst="roundRect">
            <a:avLst>
              <a:gd name="adj" fmla="val 164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702100"/>
            <a:ext cx="0" cy="618976"/>
          </a:xfrm>
          <a:prstGeom prst="line">
            <a:avLst/>
          </a:prstGeom>
          <a:noFill/>
          <a:ln w="47625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975" y="3829050"/>
            <a:ext cx="48741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最低要求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7975" y="4041725"/>
            <a:ext cx="4874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 · 稳定网络连接 · API Key（OpenRouter/OpenAI/Anthropic等）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42099" y="1231702"/>
            <a:ext cx="2793950" cy="2740521"/>
          </a:xfrm>
          <a:prstGeom prst="roundRect">
            <a:avLst>
              <a:gd name="adj" fmla="val 370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19800" y="140940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22950" y="140940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26101" y="140940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05451" y="1409402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19800" y="1669703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19800" y="1853803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raw.githubusercontent.com/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19800" y="2037904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NousResearch/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00" y="2222004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hermes-agent/main/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19800" y="2406104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scripts/install.sh | bash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19800" y="2640955"/>
            <a:ext cx="2487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等待安装完成...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19800" y="2853630"/>
            <a:ext cx="24873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19800" y="3037731"/>
            <a:ext cx="2487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启动成功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42099" y="4099173"/>
            <a:ext cx="2793950" cy="790426"/>
          </a:xfrm>
          <a:prstGeom prst="roundRect">
            <a:avLst>
              <a:gd name="adj" fmla="val 12854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04024" y="4235648"/>
            <a:ext cx="25195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04024" y="4448324"/>
            <a:ext cx="25195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也可通过 Docker 或 SSH 方式远程部署，详见部署架构页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多平台接入：Telegram 为例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 Agent 实例 · 任意平台对话 · Gateway 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31702"/>
            <a:ext cx="2607766" cy="1366838"/>
          </a:xfrm>
          <a:prstGeom prst="roundRect">
            <a:avLst>
              <a:gd name="adj" fmla="val 92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1409402"/>
            <a:ext cx="2245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支持的平台一览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1666577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Telegram · Discord · Slack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1101" y="1864668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· Signal · Email (IMAP/SMTP)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1101" y="2062758"/>
            <a:ext cx="22454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Assistant · VS Code / Zed / JetBrains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8117" y="1231702"/>
            <a:ext cx="2607766" cy="1366838"/>
          </a:xfrm>
          <a:prstGeom prst="roundRect">
            <a:avLst>
              <a:gd name="adj" fmla="val 92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68117" y="1250752"/>
            <a:ext cx="2607766" cy="0"/>
          </a:xfrm>
          <a:prstGeom prst="line">
            <a:avLst/>
          </a:prstGeom>
          <a:noFill/>
          <a:ln w="381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1267" y="1447502"/>
            <a:ext cx="2245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原理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1267" y="1704677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运行一个 gateway 进程，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1267" y="1902768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统一管理所有平台的收发消息，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1267" y="2100858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共享同一个 Agent 会话和记忆。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28283" y="1231702"/>
            <a:ext cx="2607766" cy="1366838"/>
          </a:xfrm>
          <a:prstGeom prst="roundRect">
            <a:avLst>
              <a:gd name="adj" fmla="val 92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31434" y="1409402"/>
            <a:ext cx="2245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1434" y="1666577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随时随地通过任意 APP 与 Agent 交互，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1434" y="1864668"/>
            <a:ext cx="22454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消息历史和技能全平台同步。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950" y="2750939"/>
            <a:ext cx="8128099" cy="1654076"/>
          </a:xfrm>
          <a:prstGeom prst="roundRect">
            <a:avLst>
              <a:gd name="adj" fmla="val 614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1101" y="290333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4251" y="290333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17402" y="290333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96752" y="2903339"/>
            <a:ext cx="15723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— Telegram Bot 接入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1101" y="3166765"/>
            <a:ext cx="7876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gateway telegram \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101" y="3338215"/>
            <a:ext cx="7876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--token 123456:ABC-DEF...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1101" y="3509665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 Token 在 @BotFather 获取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1101" y="3709690"/>
            <a:ext cx="7876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gateway discord \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101" y="3881140"/>
            <a:ext cx="7876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--token YOUR_DISCORD_TOKEN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1101" y="4052590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同理，启动 Discord 频道接入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切换模型 &amp; 定时任务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一行命令切换 200+ 模型 · 自然语言配置 Cron 任务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06401"/>
            <a:ext cx="3975199" cy="1816001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1101" y="1384102"/>
            <a:ext cx="36402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多模型支持（不绑定任何提供商）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1641277"/>
            <a:ext cx="3640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(200+) · OpenAI · Anthropic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1101" y="1839367"/>
            <a:ext cx="3640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Portal · Kimi/Moonshot · GLM · MiniMax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1101" y="2037457"/>
            <a:ext cx="3640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API 端点均可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3149352"/>
            <a:ext cx="3975199" cy="1765548"/>
          </a:xfrm>
          <a:prstGeom prst="roundRect">
            <a:avLst>
              <a:gd name="adj" fmla="val 575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350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3501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651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46002" y="3301752"/>
            <a:ext cx="848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Switching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0350" y="3536603"/>
            <a:ext cx="3743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0350" y="3708053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交互式选择模型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0350" y="3908078"/>
            <a:ext cx="3743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provider: openrouter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0350" y="4079528"/>
            <a:ext cx="3743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model: anthropic/claude-3.5-sonnet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0350" y="4250978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切换成功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1206401"/>
            <a:ext cx="3975199" cy="1816001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64001" y="1384102"/>
            <a:ext cx="36402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定时任务（自然语言配置）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64001" y="1641277"/>
            <a:ext cx="3640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日报/周报自动生成 · 定期备份 · 自动审计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001" y="1839367"/>
            <a:ext cx="3640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用自然语言描述任务时间，Agent 自动调度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0850" y="3149352"/>
            <a:ext cx="3975199" cy="1765548"/>
          </a:xfrm>
          <a:prstGeom prst="roundRect">
            <a:avLst>
              <a:gd name="adj" fmla="val 575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3250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16401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19551" y="33017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98902" y="3301752"/>
            <a:ext cx="8101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Scheduler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13250" y="3536603"/>
            <a:ext cx="37438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cron add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3250" y="3708053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"每天早上9点生成工作日报"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13250" y="3908078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"每周五下午6点总结本周进展"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3250" y="4108103"/>
            <a:ext cx="37438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配置完成，无人值守运行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技能（Skills）系统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 · 持续改进 · 70+ 内置技能 · 社区共享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06401"/>
            <a:ext cx="1381720" cy="676721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5388" y="1358801"/>
            <a:ext cx="10468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执行复杂任务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5388" y="1590526"/>
            <a:ext cx="1046845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你提出需求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75247" y="1411337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471" y="1206401"/>
            <a:ext cx="1381869" cy="676721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61907" y="1358801"/>
            <a:ext cx="10469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完成任务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61907" y="1590526"/>
            <a:ext cx="10469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调用工具链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61916" y="1411337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1140" y="1206401"/>
            <a:ext cx="1381720" cy="676721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48577" y="1358801"/>
            <a:ext cx="10468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自动创建技能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48577" y="1590526"/>
            <a:ext cx="1046845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封装为 YAML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48436" y="1411337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67660" y="1206401"/>
            <a:ext cx="1381869" cy="676721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35096" y="1358801"/>
            <a:ext cx="10469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持续自我改进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35096" y="1590526"/>
            <a:ext cx="10469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每次使用优化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5105" y="1411337"/>
            <a:ext cx="136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54329" y="1206401"/>
            <a:ext cx="1381720" cy="676721"/>
          </a:xfrm>
          <a:prstGeom prst="roundRect">
            <a:avLst>
              <a:gd name="adj" fmla="val 187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21767" y="1358801"/>
            <a:ext cx="10468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全平台复用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21767" y="1590526"/>
            <a:ext cx="1046845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记忆永续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950" y="2035522"/>
            <a:ext cx="2607766" cy="768697"/>
          </a:xfrm>
          <a:prstGeom prst="roundRect">
            <a:avLst>
              <a:gd name="adj" fmla="val 13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1763" y="2035522"/>
            <a:ext cx="0" cy="768697"/>
          </a:xfrm>
          <a:prstGeom prst="line">
            <a:avLst/>
          </a:prstGeom>
          <a:noFill/>
          <a:ln w="47625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276" y="2162473"/>
            <a:ext cx="22488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3276" y="2375148"/>
            <a:ext cx="2248835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完成复杂任务后，Agent 自动将操作过程封装为可复用技能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68117" y="2035522"/>
            <a:ext cx="2607766" cy="768697"/>
          </a:xfrm>
          <a:prstGeom prst="roundRect">
            <a:avLst>
              <a:gd name="adj" fmla="val 13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291929" y="2035522"/>
            <a:ext cx="0" cy="768697"/>
          </a:xfrm>
          <a:prstGeom prst="line">
            <a:avLst/>
          </a:prstGeom>
          <a:noFill/>
          <a:ln w="47625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443" y="2162473"/>
            <a:ext cx="22488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93443" y="2375148"/>
            <a:ext cx="2248835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每次使用技能后，评估效果并优化表现，越用越精准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28283" y="2035522"/>
            <a:ext cx="2607766" cy="768697"/>
          </a:xfrm>
          <a:prstGeom prst="roundRect">
            <a:avLst>
              <a:gd name="adj" fmla="val 13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52096" y="2035522"/>
            <a:ext cx="0" cy="768697"/>
          </a:xfrm>
          <a:prstGeom prst="line">
            <a:avLst/>
          </a:prstGeom>
          <a:noFill/>
          <a:ln w="47625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3609" y="2162473"/>
            <a:ext cx="22488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社区共享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53609" y="2375148"/>
            <a:ext cx="2248835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Hub 提供 70+ 技能，支持按平台启用/禁用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7950" y="2956620"/>
            <a:ext cx="8128099" cy="1168301"/>
          </a:xfrm>
          <a:prstGeom prst="roundRect">
            <a:avLst>
              <a:gd name="adj" fmla="val 869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1101" y="31090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14251" y="31090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17402" y="31090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96752" y="3109020"/>
            <a:ext cx="5376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命令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1101" y="3372445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skills list    # 查看已安装技能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101" y="3572470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skills create  # 从经验创建新技能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1101" y="3772495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 skills update   # 更新/改进现有技能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6991" y="3841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17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快速上手口诀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17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六字真言 · 记住这些命令就够了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94812" y="417463"/>
            <a:ext cx="144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42268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480" y="129778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251" y="1229618"/>
            <a:ext cx="7721798" cy="504527"/>
          </a:xfrm>
          <a:prstGeom prst="roundRect">
            <a:avLst>
              <a:gd name="adj" fmla="val 176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651" y="1331119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装（Install）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6651" y="1518345"/>
            <a:ext cx="75653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-L raw.githubusercontent.com/.../install.sh | bash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950" y="1835646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9480" y="1891159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251" y="1822996"/>
            <a:ext cx="7721798" cy="542627"/>
          </a:xfrm>
          <a:prstGeom prst="roundRect">
            <a:avLst>
              <a:gd name="adj" fmla="val 1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651" y="1924496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启（Start）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6651" y="2111722"/>
            <a:ext cx="756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— 直接启动 CLI 终端对话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950" y="246712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480" y="2522637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251" y="2454473"/>
            <a:ext cx="7721798" cy="542627"/>
          </a:xfrm>
          <a:prstGeom prst="roundRect">
            <a:avLst>
              <a:gd name="adj" fmla="val 1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555974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换（Model）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6651" y="2743200"/>
            <a:ext cx="756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model — 切换模型提供商和具体模型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950" y="309860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9480" y="31541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251" y="3085951"/>
            <a:ext cx="7721798" cy="542627"/>
          </a:xfrm>
          <a:prstGeom prst="roundRect">
            <a:avLst>
              <a:gd name="adj" fmla="val 1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66651" y="3187452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接（Gateway）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6651" y="3374678"/>
            <a:ext cx="756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gateway telegram --token ... — 接入 Telegram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7950" y="3730079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9480" y="378559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251" y="3717429"/>
            <a:ext cx="7721798" cy="542627"/>
          </a:xfrm>
          <a:prstGeom prst="roundRect">
            <a:avLst>
              <a:gd name="adj" fmla="val 1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6651" y="3818930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用（Skills）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6651" y="4006155"/>
            <a:ext cx="756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skills — 管理自动创建的技能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950" y="436155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9480" y="441707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251" y="4348907"/>
            <a:ext cx="7721798" cy="542627"/>
          </a:xfrm>
          <a:prstGeom prst="roundRect">
            <a:avLst>
              <a:gd name="adj" fmla="val 1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66651" y="4450407"/>
            <a:ext cx="7565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迁（Migrate）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6651" y="4637633"/>
            <a:ext cx="756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claw migrate — 从 OpenClaw 一键迁移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056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2257" y="344388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2851" y="203150"/>
            <a:ext cx="7643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使用指南 · 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51" y="514201"/>
            <a:ext cx="76430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核心命令速查 · 关键要点回顾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1952030"/>
            <a:ext cx="4974488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开始你的</a:t>
            </a:r>
            <a:endParaRPr lang="en-US" sz="2800" dirty="0"/>
          </a:p>
          <a:p>
            <a:pPr algn="l" indent="0" marL="0">
              <a:lnSpc>
                <a:spcPts val="336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自进化之旅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7950" y="2982813"/>
            <a:ext cx="4974488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从今天起，Hermes Agent 将成为你最懂你的 AI 伙伴。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3333304"/>
            <a:ext cx="4974488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记住六字口诀：装 → 启 → 换 → 接 → 用 → 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683794"/>
            <a:ext cx="2454176" cy="406003"/>
          </a:xfrm>
          <a:prstGeom prst="roundRect">
            <a:avLst>
              <a:gd name="adj" fmla="val 18768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3785295"/>
            <a:ext cx="2036915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hermes-agent.nousresearch.com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88050" y="1611362"/>
            <a:ext cx="3048000" cy="628650"/>
          </a:xfrm>
          <a:prstGeom prst="roundRect">
            <a:avLst>
              <a:gd name="adj" fmla="val 20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91200" y="1763762"/>
            <a:ext cx="66520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95765" y="1851422"/>
            <a:ext cx="187387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快速安装时间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88050" y="2341513"/>
            <a:ext cx="3048000" cy="628650"/>
          </a:xfrm>
          <a:prstGeom prst="roundRect">
            <a:avLst>
              <a:gd name="adj" fmla="val 20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91200" y="2493913"/>
            <a:ext cx="32501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2241" y="2581573"/>
            <a:ext cx="221407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支持的通信平台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88050" y="3071664"/>
            <a:ext cx="3048000" cy="628650"/>
          </a:xfrm>
          <a:prstGeom prst="roundRect">
            <a:avLst>
              <a:gd name="adj" fmla="val 20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91200" y="3224064"/>
            <a:ext cx="641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72994" y="3311723"/>
            <a:ext cx="189710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可切换的 AI 模型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88050" y="3801814"/>
            <a:ext cx="3048000" cy="628650"/>
          </a:xfrm>
          <a:prstGeom prst="roundRect">
            <a:avLst>
              <a:gd name="adj" fmla="val 2020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91200" y="3954214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54353" y="4041874"/>
            <a:ext cx="22221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最低运行成本 / 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看图学会使用 Hermes Agent</dc:title>
  <dc:subject>PptxGenJS Presentation</dc:subject>
  <dc:creator>Claude</dc:creator>
  <cp:lastModifiedBy>Claude</cp:lastModifiedBy>
  <cp:revision>1</cp:revision>
  <dcterms:created xsi:type="dcterms:W3CDTF">2026-04-08T16:11:53Z</dcterms:created>
  <dcterms:modified xsi:type="dcterms:W3CDTF">2026-04-08T16:11:53Z</dcterms:modified>
</cp:coreProperties>
</file>